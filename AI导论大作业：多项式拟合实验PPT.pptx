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是[您的姓名]。今天我将为大家展示我的人工智能导论大作业——基于神经网络的多项式拟合。本次实验的核心是通过两种不同的方式实现多项式拟合，以深入理解神经网络的底层原理，并掌握工业级深度学习框架的应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本次汇报将分为六个部分。首先，我会介绍实验的背景和目的；接着，回顾神经网络的核心原理；然后详细阐述我们的实验方案；之后，展示并分析实验结果；最后，探讨模型的改进方向并进行总结展望。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实验的背景是多项式拟合，这是一个理解回归问题和神经网络工作机制的绝佳切入点。我们的主要目的有四个：首先，深入理解神经网络的核心原理；其次，对比两种不同的实现方式；再次，掌握模型调优的关键技术；最后，全面提升我们的工程实践和分析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神经网络的基本结构包括输入层、隐藏层和输出层。在我们的实验中，输入是单个变量x，输出是预测值y。隐藏层是网络的核心，通过堆叠多层神经元和非线性激活函数，网络能够学习到复杂的函数关系。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模型的训练过程是一个迭代优化的过程。首先准备好数据，然后让数据通过网络得到预测值，接着计算预测的误差，再通过反向传播算法找到误差的来源（即参数的梯度），最后利用优化器更新参数以减小误差。这个过程会不断重复，直到模型的性能不再提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达到实验目的，我们采用了双轨实现策略。第一轨是用C++手动手写神经网络，这能让我们深入理解每一个细节。第二轨是使用Python的Keras框架，这代表了工业界的实际应用方式，能让我们快速构建模型并进行大量的对比实验。通过对比，我们可以全面掌握神经网络的理论与实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Python-Keras实现中，我们设计了三组对比实验来探究不同因素对模型性能的影响。首先是网络深度，我们尝试了1层、2层和3层隐藏层。其次是正则化强度，我们对比了有无L2正则化以及不同系数的效果。最后是激活函数，我们比较了常用的ReLU和Sigmoid函数。通过这些实验，我们可以得出很多有价值的结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C++手写版本的实验结果。左侧是反向传播梯度计算的核心代码，可以看到每一步都需要手动推导和实现。右侧是程序的运行结果，损失值在不断下降，最终的预测结果也基本正确。这证明我们的原理理解是正确的，但手写代码的局限性也很明显，功能单一，效率较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看网络深度对比实验的结果。从损失曲线图可以看出，2层隐藏层的模型收敛最快，且验证损失和训练损失几乎重合。从表格数据可以更清楚地看到，2层模型的测试误差是最低的。这说明，对于这个问题，2层隐藏层是最优的结构，层数过多或过少都会影响性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正则化对比实验的结果非常直观。左边的损失曲线显示，没有正则化的模型，训练损失一路走低，但验证损失在后期开始上升，这是典型的过拟合现象。而加入了合适强度的L2正则化后，过拟合被有效抑制，两条曲线紧密贴合。右边的拟合效果图也证明了这一点，正则化后的模型在测试集上的表现更稳定、更准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综合所有实验结果，我们可以得出以下几点核心结论：首先，针对本次多项式拟合任务，我们找到了最优的模型配置。其次，我们验证了L2正则化和早停机制在防止过拟合方面的有效性。再次，我们确认了ReLU激活函数的优越性。最后，我们深刻体会到，理解底层原理和熟练使用高级工具对于成为一名优秀的AI工程师来说都是至关重要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本次实验，我们可以在两个方向上进行深入拓展。在功能上，可以引入超参数自动调优和模型可解释性分析等更高级的技术。在应用上，可以将模型从模拟数据推广到真实数据，并解决更复杂的多变量拟合问题，甚至将模型部署成实际可用的服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本次实验进行总结。我们成功地完成了多项式拟合任务，并在这个过程中深化了对神经网络的理解，提升了实践能力。展望未来，我将继续学习更复杂的网络模型，并努力将AI技术应用到实际项目中，不断提升自己的综合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我的汇报到此结束，感谢各位老师和同学的聆听！接下来是问答环节，欢迎大家提问交流。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1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2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svg"/><Relationship Id="rId3" Type="http://schemas.openxmlformats.org/officeDocument/2006/relationships/image" Target="../media/image25.jpeg"/><Relationship Id="rId7" Type="http://schemas.openxmlformats.org/officeDocument/2006/relationships/image" Target="../media/image29.sv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11" Type="http://schemas.openxmlformats.org/officeDocument/2006/relationships/image" Target="../media/image33.svg"/><Relationship Id="rId5" Type="http://schemas.openxmlformats.org/officeDocument/2006/relationships/image" Target="../media/image27.svg"/><Relationship Id="rId15" Type="http://schemas.openxmlformats.org/officeDocument/2006/relationships/image" Target="../media/image37.sv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svg"/><Relationship Id="rId14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48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sv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svg"/><Relationship Id="rId4" Type="http://schemas.openxmlformats.org/officeDocument/2006/relationships/image" Target="../media/image39.svg"/><Relationship Id="rId9" Type="http://schemas.openxmlformats.org/officeDocument/2006/relationships/image" Target="../media/image44.png"/><Relationship Id="rId14" Type="http://schemas.openxmlformats.org/officeDocument/2006/relationships/image" Target="../media/image4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15.png"/><Relationship Id="rId18" Type="http://schemas.openxmlformats.org/officeDocument/2006/relationships/image" Target="../media/image59.svg"/><Relationship Id="rId3" Type="http://schemas.openxmlformats.org/officeDocument/2006/relationships/image" Target="../media/image50.png"/><Relationship Id="rId7" Type="http://schemas.openxmlformats.org/officeDocument/2006/relationships/image" Target="../media/image19.png"/><Relationship Id="rId12" Type="http://schemas.openxmlformats.org/officeDocument/2006/relationships/image" Target="../media/image57.svg"/><Relationship Id="rId17" Type="http://schemas.openxmlformats.org/officeDocument/2006/relationships/image" Target="../media/image5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3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.svg"/><Relationship Id="rId11" Type="http://schemas.openxmlformats.org/officeDocument/2006/relationships/image" Target="../media/image56.png"/><Relationship Id="rId5" Type="http://schemas.openxmlformats.org/officeDocument/2006/relationships/image" Target="../media/image52.png"/><Relationship Id="rId15" Type="http://schemas.openxmlformats.org/officeDocument/2006/relationships/image" Target="../media/image32.png"/><Relationship Id="rId10" Type="http://schemas.openxmlformats.org/officeDocument/2006/relationships/image" Target="../media/image55.svg"/><Relationship Id="rId4" Type="http://schemas.openxmlformats.org/officeDocument/2006/relationships/image" Target="../media/image51.svg"/><Relationship Id="rId9" Type="http://schemas.openxmlformats.org/officeDocument/2006/relationships/image" Target="../media/image54.png"/><Relationship Id="rId1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60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image" Target="../media/image6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svg"/><Relationship Id="rId3" Type="http://schemas.openxmlformats.org/officeDocument/2006/relationships/image" Target="../media/image50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5.svg"/><Relationship Id="rId5" Type="http://schemas.openxmlformats.org/officeDocument/2006/relationships/image" Target="../media/image64.png"/><Relationship Id="rId4" Type="http://schemas.openxmlformats.org/officeDocument/2006/relationships/image" Target="../media/image51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3" Type="http://schemas.openxmlformats.org/officeDocument/2006/relationships/image" Target="../media/image11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10" Type="http://schemas.openxmlformats.org/officeDocument/2006/relationships/image" Target="../media/image73.svg"/><Relationship Id="rId4" Type="http://schemas.openxmlformats.org/officeDocument/2006/relationships/image" Target="../media/image12.svg"/><Relationship Id="rId9" Type="http://schemas.openxmlformats.org/officeDocument/2006/relationships/image" Target="../media/image7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svg"/><Relationship Id="rId13" Type="http://schemas.openxmlformats.org/officeDocument/2006/relationships/image" Target="../media/image82.png"/><Relationship Id="rId3" Type="http://schemas.openxmlformats.org/officeDocument/2006/relationships/image" Target="../media/image11.png"/><Relationship Id="rId7" Type="http://schemas.openxmlformats.org/officeDocument/2006/relationships/image" Target="../media/image76.png"/><Relationship Id="rId12" Type="http://schemas.openxmlformats.org/officeDocument/2006/relationships/image" Target="../media/image81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8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5.sv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4.png"/><Relationship Id="rId10" Type="http://schemas.openxmlformats.org/officeDocument/2006/relationships/image" Target="../media/image79.svg"/><Relationship Id="rId4" Type="http://schemas.openxmlformats.org/officeDocument/2006/relationships/image" Target="../media/image12.svg"/><Relationship Id="rId9" Type="http://schemas.openxmlformats.org/officeDocument/2006/relationships/image" Target="../media/image78.png"/><Relationship Id="rId14" Type="http://schemas.openxmlformats.org/officeDocument/2006/relationships/image" Target="../media/image8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86.png"/><Relationship Id="rId7" Type="http://schemas.openxmlformats.org/officeDocument/2006/relationships/image" Target="../media/image42.png"/><Relationship Id="rId12" Type="http://schemas.openxmlformats.org/officeDocument/2006/relationships/image" Target="../media/image9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3.svg"/><Relationship Id="rId11" Type="http://schemas.openxmlformats.org/officeDocument/2006/relationships/image" Target="../media/image90.png"/><Relationship Id="rId5" Type="http://schemas.openxmlformats.org/officeDocument/2006/relationships/image" Target="../media/image62.png"/><Relationship Id="rId10" Type="http://schemas.openxmlformats.org/officeDocument/2006/relationships/image" Target="../media/image89.svg"/><Relationship Id="rId4" Type="http://schemas.openxmlformats.org/officeDocument/2006/relationships/image" Target="../media/image87.svg"/><Relationship Id="rId9" Type="http://schemas.openxmlformats.org/officeDocument/2006/relationships/image" Target="../media/image8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svg"/><Relationship Id="rId13" Type="http://schemas.openxmlformats.org/officeDocument/2006/relationships/image" Target="../media/image96.png"/><Relationship Id="rId18" Type="http://schemas.openxmlformats.org/officeDocument/2006/relationships/image" Target="../media/image101.svg"/><Relationship Id="rId3" Type="http://schemas.openxmlformats.org/officeDocument/2006/relationships/image" Target="../media/image21.png"/><Relationship Id="rId7" Type="http://schemas.openxmlformats.org/officeDocument/2006/relationships/image" Target="../media/image92.png"/><Relationship Id="rId12" Type="http://schemas.openxmlformats.org/officeDocument/2006/relationships/image" Target="../media/image95.svg"/><Relationship Id="rId17" Type="http://schemas.openxmlformats.org/officeDocument/2006/relationships/image" Target="../media/image100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99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7.svg"/><Relationship Id="rId11" Type="http://schemas.openxmlformats.org/officeDocument/2006/relationships/image" Target="../media/image94.png"/><Relationship Id="rId5" Type="http://schemas.openxmlformats.org/officeDocument/2006/relationships/image" Target="../media/image86.png"/><Relationship Id="rId15" Type="http://schemas.openxmlformats.org/officeDocument/2006/relationships/image" Target="../media/image98.png"/><Relationship Id="rId10" Type="http://schemas.openxmlformats.org/officeDocument/2006/relationships/image" Target="../media/image43.svg"/><Relationship Id="rId4" Type="http://schemas.openxmlformats.org/officeDocument/2006/relationships/image" Target="../media/image22.svg"/><Relationship Id="rId9" Type="http://schemas.openxmlformats.org/officeDocument/2006/relationships/image" Target="../media/image42.png"/><Relationship Id="rId14" Type="http://schemas.openxmlformats.org/officeDocument/2006/relationships/image" Target="../media/image97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svg"/><Relationship Id="rId3" Type="http://schemas.openxmlformats.org/officeDocument/2006/relationships/image" Target="../media/image102.png"/><Relationship Id="rId7" Type="http://schemas.openxmlformats.org/officeDocument/2006/relationships/image" Target="../media/image10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5.svg"/><Relationship Id="rId5" Type="http://schemas.openxmlformats.org/officeDocument/2006/relationships/image" Target="../media/image84.png"/><Relationship Id="rId10" Type="http://schemas.openxmlformats.org/officeDocument/2006/relationships/image" Target="../media/image107.svg"/><Relationship Id="rId4" Type="http://schemas.openxmlformats.org/officeDocument/2006/relationships/image" Target="../media/image103.svg"/><Relationship Id="rId9" Type="http://schemas.openxmlformats.org/officeDocument/2006/relationships/image" Target="../media/image10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0.png"/><Relationship Id="rId4" Type="http://schemas.openxmlformats.org/officeDocument/2006/relationships/image" Target="../media/image10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100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5F7FA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397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E5BFF"/>
                </a:solidFill>
                <a:latin typeface="Noto Sans SC"/>
                <a:ea typeface="Noto Sans SC"/>
                <a:cs typeface="Noto Sans SC"/>
                <a:sym typeface="Noto Sans SC"/>
              </a:rPr>
              <a:t>人工智能导论大作业：基于神经网络的多项式拟合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15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5" name="Connector 5"/>
          <p:cNvCxnSpPr/>
          <p:nvPr/>
        </p:nvCxnSpPr>
        <p:spPr>
          <a:xfrm rot="-34376">
            <a:off x="5461032" y="2851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F6B3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270000" y="2984500"/>
            <a:ext cx="965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254000" dist="101600" dir="2700000" algn="tl" rotWithShape="0">
              <a:srgbClr val="2E5B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0838" y="3557023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916466" y="3530600"/>
            <a:ext cx="2192055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姓 名：</a:t>
            </a:r>
            <a:r>
              <a:rPr lang="zh-CN" altLang="en-US" sz="1400" b="0" i="0" u="none" strike="noStrik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龙智杰  陈奕霖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6477000" y="35306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11" name="Connector 11"/>
          <p:cNvCxnSpPr/>
          <p:nvPr/>
        </p:nvCxnSpPr>
        <p:spPr>
          <a:xfrm rot="-5055">
            <a:off x="1778005" y="4121150"/>
            <a:ext cx="863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80838" y="4393177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916466" y="4381500"/>
            <a:ext cx="1753644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专 业</a:t>
            </a:r>
            <a:r>
              <a:rPr lang="zh-CN" altLang="en-US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： 人工智能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6477000" y="43561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E5B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57290">
            <a:off x="762053" y="1771650"/>
            <a:ext cx="76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FF6B3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762000" y="2159000"/>
            <a:ext cx="10668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2E5BF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3368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311400"/>
            <a:ext cx="762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实验背景与目的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0" y="2311400"/>
            <a:ext cx="101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P.03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997200"/>
            <a:ext cx="10668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2E5BF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175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3149600"/>
            <a:ext cx="762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核心原理回顾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0" y="3149600"/>
            <a:ext cx="101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P.05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835400"/>
            <a:ext cx="10668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2E5BF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0132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3987800"/>
            <a:ext cx="762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实验方案设计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0" y="3987800"/>
            <a:ext cx="101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P.08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673600"/>
            <a:ext cx="10668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2E5BF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48514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524000" y="4826000"/>
            <a:ext cx="762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 实验结果与分析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0" y="4826000"/>
            <a:ext cx="101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P.12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511800"/>
            <a:ext cx="10668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2E5BF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6000" y="56896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524000" y="5664200"/>
            <a:ext cx="762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05 模型改进与拓展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0160000" y="5664200"/>
            <a:ext cx="101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P.16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E5BFF"/>
                </a:solidFill>
                <a:latin typeface="Noto Sans SC"/>
                <a:ea typeface="Noto Sans SC"/>
                <a:cs typeface="Noto Sans SC"/>
                <a:sym typeface="Noto Sans SC"/>
              </a:rPr>
              <a:t>实验背景与目的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080000" cy="3810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E5BF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24130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905000" y="24638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实验背景：多项式拟合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0110">
            <a:off x="1143009" y="3105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143000" y="3302000"/>
            <a:ext cx="431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多项式拟合是机器学习中回归问题的经典案例，它能够直观地展示模型如何学习数据中的非线性关系。</a:t>
            </a:r>
            <a:endParaRPr lang="en-US" sz="1100"/>
          </a:p>
          <a:p>
            <a:pPr indent="0" algn="l">
              <a:lnSpc>
                <a:spcPct val="125000"/>
              </a:lnSpc>
            </a:pP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通过本次实验，我们将抽象的神经网络理论与具体的数值计算相结合，深入探究算法的本质。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096000" y="2032000"/>
            <a:ext cx="5080000" cy="3810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E5BF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24130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239000" y="24638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核心实验目标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0110">
            <a:off x="6477009" y="3105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3365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858000" y="33274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理解原理：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掌握前向传播、反向传播及梯度下降算法。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3873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858000" y="38354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对比实现：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对比C++手写与Python-Keras框架，体会底层与工程差异。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4381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858000" y="43434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掌握调优：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使用正则化、早停等方法抑制过拟合，提升泛化能力。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77000" y="4889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858000" y="48514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提升能力：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培养实验设计、结果分析和科学报告撰写的综合能力。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E5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核心原理回顾：神经网络结构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9459" b="9459"/>
          <a:stretch>
            <a:fillRect/>
          </a:stretch>
        </p:blipFill>
        <p:spPr>
          <a:xfrm>
            <a:off x="1016000" y="1778000"/>
            <a:ext cx="4699000" cy="254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508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4470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全连接神经网络结构示意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889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包含输入层、隐藏层与输出层。通过多层神经元堆叠，网络能够学习复杂的非线性映射关系，实现从输入 x 到预测值 y 的转换。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1778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858000" y="1739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层级功能解析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222500"/>
            <a:ext cx="4699000" cy="635000"/>
          </a:xfrm>
          <a:prstGeom prst="roundRect">
            <a:avLst>
              <a:gd name="adj" fmla="val 10000"/>
            </a:avLst>
          </a:prstGeom>
          <a:solidFill>
            <a:srgbClr val="2E5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23622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21500" y="2311400"/>
            <a:ext cx="412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输入层 (Input):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单变量 x 输入，作为网络的起点。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2921000"/>
            <a:ext cx="4699000" cy="635000"/>
          </a:xfrm>
          <a:prstGeom prst="roundRect">
            <a:avLst>
              <a:gd name="adj" fmla="val 10000"/>
            </a:avLst>
          </a:prstGeom>
          <a:solidFill>
            <a:srgbClr val="FF6B35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30607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21500" y="3009900"/>
            <a:ext cx="412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隐藏层 (Hidden):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1-3层堆叠，负责学习非线性特征。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3619500"/>
            <a:ext cx="4699000" cy="635000"/>
          </a:xfrm>
          <a:prstGeom prst="roundRect">
            <a:avLst>
              <a:gd name="adj" fmla="val 10000"/>
            </a:avLst>
          </a:prstGeom>
          <a:solidFill>
            <a:srgbClr val="2E5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4000" y="37592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21500" y="3708400"/>
            <a:ext cx="412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输出层 (Output):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预测值 y_pred，回归任务无激活函数。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291">
            <a:off x="6477009" y="4375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1" name="Picture 2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77000" y="4508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858000" y="4470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核心计算逻辑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77000" y="4889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线性变换：</a:t>
            </a:r>
            <a:r>
              <a:rPr lang="en-US" sz="1400" b="1" i="0" u="none" strike="noStrike">
                <a:solidFill>
                  <a:srgbClr val="FF6B35"/>
                </a:solidFill>
                <a:latin typeface="Noto Sans SC"/>
                <a:ea typeface="Noto Sans SC"/>
                <a:cs typeface="Noto Sans SC"/>
                <a:sym typeface="Noto Sans SC"/>
              </a:rPr>
              <a:t>Z = W · A_prev + b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77000" y="5270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非线性激活：</a:t>
            </a:r>
            <a:r>
              <a:rPr lang="en-US" sz="1400" b="1" i="0" u="none" strike="noStrike">
                <a:solidFill>
                  <a:srgbClr val="FF6B35"/>
                </a:solidFill>
                <a:latin typeface="Noto Sans SC"/>
                <a:ea typeface="Noto Sans SC"/>
                <a:cs typeface="Noto Sans SC"/>
                <a:sym typeface="Noto Sans SC"/>
              </a:rPr>
              <a:t>A = g(Z)</a:t>
            </a:r>
            <a:r>
              <a:rPr lang="en-US" sz="1200" b="0" i="0" u="none" strike="noStrike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(如 ReLU)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E5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核心原理回顾：模型训练流程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905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数据准备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5626">
            <a:off x="1016014" y="240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540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生成训练数据和测试数据，构建数据管道，确保数据质量。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9000" y="1905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07000" y="1905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前向传播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5626">
            <a:off x="4699014" y="240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4699000" y="2540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数据输入网络，经权重计算得到预测值 y_pred，完成一次推理。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651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82000" y="1905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90000" y="1905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损失计算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5626">
            <a:off x="8382014" y="240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8382000" y="2540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使用损失函数（如MSE）衡量预测值与真实值的差距，量化误差。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3810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4064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524000" y="4064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 反向传播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5626">
            <a:off x="1016014" y="4565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1016000" y="4699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计算损失函数对网络参数（权重W和偏置b）的梯度，定位误差来源。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445000" y="3810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99000" y="40640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5207000" y="4064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05 参数更新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5626">
            <a:off x="4699014" y="4565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4699000" y="4699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利用优化算法（如Adam）沿梯度下降方向更新参数，最小化损失。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128000" y="3810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382000" y="4064000"/>
            <a:ext cx="406400" cy="4064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8890000" y="4064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06 重复迭代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-15626">
            <a:off x="8382014" y="4565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8382000" y="4699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重复步骤2-5，直到模型收敛或达到预设迭代次数。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E5BFF"/>
                </a:solidFill>
                <a:latin typeface="Noto Sans SC"/>
                <a:ea typeface="Noto Sans SC"/>
                <a:cs typeface="Noto Sans SC"/>
                <a:sym typeface="Noto Sans SC"/>
              </a:rPr>
              <a:t>实验方案设计：双轨实现策略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2E5B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2E5B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222500"/>
            <a:ext cx="381000" cy="381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1844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5BFF"/>
                </a:solidFill>
                <a:latin typeface="Noto Sans SC"/>
                <a:ea typeface="Noto Sans SC"/>
                <a:cs typeface="Noto Sans SC"/>
                <a:sym typeface="Noto Sans SC"/>
              </a:rPr>
              <a:t>第一轨：C++手写实现 (原理验证)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0480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30226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深入理解神经网络的每一个底层细节，如梯度推导。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36830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36576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实现内容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手动编写数据生成、网络初始化、前向传播、反向传播及梯度下降优化。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45085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44831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主要特点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代码繁琐，调试难度大，但能深刻理解原理，知其所以然。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350000" y="2032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FF6B35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350000" y="2032000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6B3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0" y="2222500"/>
            <a:ext cx="381000" cy="381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112000" y="21844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B35"/>
                </a:solidFill>
                <a:latin typeface="Noto Sans SC"/>
                <a:ea typeface="Noto Sans SC"/>
                <a:cs typeface="Noto Sans SC"/>
                <a:sym typeface="Noto Sans SC"/>
              </a:rPr>
              <a:t>第二轨：Python-Keras实现 (工程应用)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04000" y="30480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30226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利用工业级框架快速构建模型，进行高效的实验和分析。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04000" y="368300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36576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实现内容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利用高级API快速完成模型构建、编译和训练；集成多种优化器与正则化方法。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04000" y="45085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85000" y="44831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主要特点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开发效率极高，功能强大，便于进行多模型对比实验和快速迭代。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E5BFF"/>
                </a:solidFill>
                <a:latin typeface="Noto Sans SC"/>
                <a:ea typeface="Noto Sans SC"/>
                <a:cs typeface="Noto Sans SC"/>
                <a:sym typeface="Noto Sans SC"/>
              </a:rPr>
              <a:t>实验方案设计：多模型对比实验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0828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74800" y="2057400"/>
            <a:ext cx="215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5BFF"/>
                </a:solidFill>
                <a:latin typeface="Noto Sans SC"/>
                <a:ea typeface="Noto Sans SC"/>
                <a:cs typeface="Noto Sans SC"/>
                <a:sym typeface="Noto Sans SC"/>
              </a:rPr>
              <a:t>网络深度对比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6215">
            <a:off x="1066815" y="25971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8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66800" y="2794000"/>
            <a:ext cx="2692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变量设置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66800" y="3149600"/>
            <a:ext cx="2692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1层(32节点) / 2层(64-32节点) / 3层(64-32-16节点)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66800" y="4000500"/>
            <a:ext cx="2692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实验目的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66800" y="4356100"/>
            <a:ext cx="2692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探究隐藏层层数对模型拟合能力和泛化能力的影响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9800" y="20828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57800" y="2057400"/>
            <a:ext cx="215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5BFF"/>
                </a:solidFill>
                <a:latin typeface="Noto Sans SC"/>
                <a:ea typeface="Noto Sans SC"/>
                <a:cs typeface="Noto Sans SC"/>
                <a:sym typeface="Noto Sans SC"/>
              </a:rPr>
              <a:t>正则化强度对比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6215">
            <a:off x="4749815" y="25971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8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749800" y="2794000"/>
            <a:ext cx="2692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变量设置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749800" y="3149600"/>
            <a:ext cx="2692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λ=0 (无正则化) / λ=0.001 / λ=0.005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49800" y="4000500"/>
            <a:ext cx="2692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实验目的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749800" y="4356100"/>
            <a:ext cx="2692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验证L2正则化在抑制过拟合方面的作用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128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32800" y="20828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940800" y="2057400"/>
            <a:ext cx="215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5BFF"/>
                </a:solidFill>
                <a:latin typeface="Noto Sans SC"/>
                <a:ea typeface="Noto Sans SC"/>
                <a:cs typeface="Noto Sans SC"/>
                <a:sym typeface="Noto Sans SC"/>
              </a:rPr>
              <a:t>激活函数对比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6215">
            <a:off x="8432815" y="25971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8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432800" y="2794000"/>
            <a:ext cx="2692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变量设置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432800" y="3149600"/>
            <a:ext cx="2692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ReLU / Sigmoid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432800" y="4000500"/>
            <a:ext cx="2692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实验目的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432800" y="4356100"/>
            <a:ext cx="2692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比较不同激活函数对模型收敛速度和最终性能的影响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E5BFF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实验结果与分析：C++手写版演示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207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286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2260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核心代码：反向传播梯度计算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30500"/>
            <a:ext cx="4699000" cy="2095500"/>
          </a:xfrm>
          <a:prstGeom prst="roundRect">
            <a:avLst>
              <a:gd name="adj" fmla="val 303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143000" y="2857500"/>
            <a:ext cx="4445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// 手动实现 Sigmoid 导数与链式法则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double delta = (output - target) * output * (1 - output);</a:t>
            </a: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weight -= learning_rate * delta * input;</a:t>
            </a: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bias -= learning_rate * delta;</a:t>
            </a: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// 每一层梯度均需手动推导更新...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2032000"/>
            <a:ext cx="5207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2286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858000" y="2260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运行结果：损失收敛与预测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730500"/>
            <a:ext cx="4699000" cy="2095500"/>
          </a:xfrm>
          <a:prstGeom prst="roundRect">
            <a:avLst>
              <a:gd name="adj" fmla="val 303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604000" y="2857500"/>
            <a:ext cx="4445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Epoch 1: Loss = 0.6931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Epoch 1000: Loss = 0.0215</a:t>
            </a: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Predicting sample [0.5, 0.3]...</a:t>
            </a: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6B35"/>
                </a:solidFill>
                <a:latin typeface="Noto Sans SC"/>
                <a:ea typeface="Noto Sans SC"/>
                <a:cs typeface="Noto Sans SC"/>
                <a:sym typeface="Noto Sans SC"/>
              </a:rPr>
              <a:t>Result: 0.98 (True: 1.0)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5334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2E5BFF">
              <a:alpha val="8000"/>
            </a:srgbClr>
          </a:solidFill>
          <a:ln w="12700" cap="flat" cmpd="sng">
            <a:solidFill>
              <a:srgbClr val="2E5B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588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460500" y="5524500"/>
            <a:ext cx="971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实验结论：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手写版成功验证了神经网络原理，但代码复杂度高，难以实现高级优化策略，收敛速度和最终精度略逊于成熟框架。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E5BFF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实验结果与分析：网络深度对比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334000" cy="2921000"/>
          </a:xfrm>
          <a:prstGeom prst="roundRect">
            <a:avLst>
              <a:gd name="adj" fmla="val 434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587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模型训练与验证损失曲线对比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826000" cy="2032000"/>
          </a:xfrm>
          <a:prstGeom prst="roundRect">
            <a:avLst>
              <a:gd name="adj" fmla="val 0"/>
            </a:avLst>
          </a:prstGeom>
          <a:solidFill>
            <a:srgbClr val="F0F2F5">
              <a:alpha val="100000"/>
            </a:srgbClr>
          </a:solidFill>
          <a:ln w="12700" cap="flat" cmpd="sng">
            <a:solidFill>
              <a:srgbClr val="DCE0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1500" y="2540000"/>
            <a:ext cx="635000" cy="635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16000" y="3238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损失曲线对比图：2层模型收敛最快且最稳定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0" y="1397000"/>
            <a:ext cx="5080000" cy="2921000"/>
          </a:xfrm>
          <a:prstGeom prst="roundRect">
            <a:avLst>
              <a:gd name="adj" fmla="val 434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604000" y="1587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关键发现与性能分析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20955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21500" y="2057400"/>
            <a:ext cx="4254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E5BFF"/>
                </a:solidFill>
                <a:latin typeface="Noto Sans SC"/>
                <a:ea typeface="Noto Sans SC"/>
                <a:cs typeface="Noto Sans SC"/>
                <a:sym typeface="Noto Sans SC"/>
              </a:rPr>
              <a:t>2层隐藏层 (最优)：</a:t>
            </a:r>
            <a:r>
              <a:rPr lang="en-US" sz="13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测试集MSE最低(0.0008)，训练与验证损失接近，泛化能力最强。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26670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21500" y="2628900"/>
            <a:ext cx="4254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6B35"/>
                </a:solidFill>
                <a:latin typeface="Noto Sans SC"/>
                <a:ea typeface="Noto Sans SC"/>
                <a:cs typeface="Noto Sans SC"/>
                <a:sym typeface="Noto Sans SC"/>
              </a:rPr>
              <a:t>1层隐藏层 (欠拟合)：</a:t>
            </a:r>
            <a:r>
              <a:rPr lang="en-US" sz="13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结构简单，拟合能力不足，整体误差较大。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32385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921500" y="3200400"/>
            <a:ext cx="4254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3层隐藏层 (过拟合)：</a:t>
            </a:r>
            <a:r>
              <a:rPr lang="en-US" sz="13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参数冗余，验证损失高于训练损失，测试误差略有上升。</a:t>
            </a:r>
            <a:endParaRPr lang="en-US" sz="1100"/>
          </a:p>
        </p:txBody>
      </p:sp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762000" y="4572000"/>
          <a:ext cx="10668000" cy="1841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模型结构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5B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测试集 MSE (均方误差)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5B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测试集 MAE (平均绝对误差)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5B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1层隐藏层 (64节点)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0.0015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0.032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E5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2层隐藏层 (64-32节点) - 最优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F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E5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0.0008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F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E5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0.020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BFF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3层隐藏层 (64-32-16节点)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0.0012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0.028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E5BFF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实验结果与分析：正则化强度对比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7145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676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损失曲线分析：过拟合 vs 正则化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0891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22860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2260600"/>
            <a:ext cx="438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无正则化 (λ=0)：严重过拟合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333500" y="2565400"/>
            <a:ext cx="438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训练损失极低(0.0001)，但验证损失显著升高(0.0015)，泛化能力差。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31115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33500" y="3086100"/>
            <a:ext cx="438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合适正则化 (λ=0.001)：最优解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333500" y="3390900"/>
            <a:ext cx="438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训练与验证损失紧密贴合，有效抑制过拟合，测试误差降至最低(0.0008)。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39370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33500" y="3911600"/>
            <a:ext cx="438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正则化过强 (λ=0.005)：欠拟合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333500" y="4216400"/>
            <a:ext cx="438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模型拟合能力受限，训练与验证损失均较高，测试误差反而上升。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1524000"/>
            <a:ext cx="5207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1714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858000" y="1676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拟合效果可视化对比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9291">
            <a:off x="6477009" y="20891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477000" y="2286000"/>
            <a:ext cx="4699000" cy="2286000"/>
          </a:xfrm>
          <a:prstGeom prst="roundRect">
            <a:avLst>
              <a:gd name="adj" fmla="val 0"/>
            </a:avLst>
          </a:prstGeom>
          <a:solidFill>
            <a:srgbClr val="F0F2F5">
              <a:alpha val="100000"/>
            </a:srgbClr>
          </a:solidFill>
          <a:ln w="12700" cap="flat" cmpd="sng">
            <a:solidFill>
              <a:srgbClr val="DCE0E5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45500" y="3048000"/>
            <a:ext cx="508000" cy="508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477000" y="36195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此处展示：无正则化 vs 有正则化 拟合结果对比图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77000" y="4699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右图直观展示了真实值与预测值的分布。加入L2正则化后，预测曲线更平滑，有效避免了对噪声数据的过度学习。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7785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2E5BFF">
              <a:alpha val="8000"/>
            </a:srgbClr>
          </a:solidFill>
          <a:ln w="12700" cap="flat" cmpd="sng">
            <a:solidFill>
              <a:srgbClr val="2E5B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6000" y="59690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397000" y="5943600"/>
            <a:ext cx="9779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E5B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L2正则化是抑制过拟合的有效手段，但需平衡模型复杂度与拟合能力，选择合适的强度（如λ=0.001）。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E5BFF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实验结果与分析：综合结论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33782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E5BF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2286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5BFF"/>
                </a:solidFill>
                <a:latin typeface="Noto Sans SC"/>
                <a:ea typeface="Noto Sans SC"/>
                <a:cs typeface="Noto Sans SC"/>
                <a:sym typeface="Noto Sans SC"/>
              </a:rPr>
              <a:t>最优模型配置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5211">
            <a:off x="1016014" y="2724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857500"/>
            <a:ext cx="2870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采用2层隐藏层(64-32节点)，结合ReLU激活与Adam优化器，配合L2正则化(λ=0.001)达到最佳效果。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94200" y="2032000"/>
            <a:ext cx="33782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E5BF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8200" y="2286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156200" y="2286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5BFF"/>
                </a:solidFill>
                <a:latin typeface="Noto Sans SC"/>
                <a:ea typeface="Noto Sans SC"/>
                <a:cs typeface="Noto Sans SC"/>
                <a:sym typeface="Noto Sans SC"/>
              </a:rPr>
              <a:t>过拟合控制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5211">
            <a:off x="4648214" y="2724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4648200" y="2857500"/>
            <a:ext cx="2870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L2正则化和早停机制是防止模型过拟合、显著提升泛化能力的关键技术手段。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26400" y="2032000"/>
            <a:ext cx="33782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E5BF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80400" y="2286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788400" y="2286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5BFF"/>
                </a:solidFill>
                <a:latin typeface="Noto Sans SC"/>
                <a:ea typeface="Noto Sans SC"/>
                <a:cs typeface="Noto Sans SC"/>
                <a:sym typeface="Noto Sans SC"/>
              </a:rPr>
              <a:t>激活函数选择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5211">
            <a:off x="8280414" y="2724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8280400" y="2857500"/>
            <a:ext cx="2870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ReLU激活函数在收敛速度和最终性能上均优于Sigmoid，是深度神经网络的首选。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318000"/>
            <a:ext cx="53086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E5BF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4572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524000" y="4572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5BFF"/>
                </a:solidFill>
                <a:latin typeface="Noto Sans SC"/>
                <a:ea typeface="Noto Sans SC"/>
                <a:cs typeface="Noto Sans SC"/>
                <a:sym typeface="Noto Sans SC"/>
              </a:rPr>
              <a:t>工具选择：效率与规模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9094">
            <a:off x="1016008" y="5010150"/>
            <a:ext cx="4800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1016000" y="5143500"/>
            <a:ext cx="48006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Keras等工业级框架极大地提高了开发效率，使快速构建复杂模型并进行大规模实验成为可能。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24600" y="4318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E5BF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78600" y="45720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086600" y="4572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5BFF"/>
                </a:solidFill>
                <a:latin typeface="Noto Sans SC"/>
                <a:ea typeface="Noto Sans SC"/>
                <a:cs typeface="Noto Sans SC"/>
                <a:sym typeface="Noto Sans SC"/>
              </a:rPr>
              <a:t>原理与实践结合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549">
            <a:off x="6578609" y="5010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578600" y="5143500"/>
            <a:ext cx="457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C++手写实现加深理论理解，Python框架实现提升工程能力，两者相辅相成，缺一不可。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E5BF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模型改进与拓展方向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1435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2E5BF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143500" cy="635000"/>
          </a:xfrm>
          <a:prstGeom prst="roundRect">
            <a:avLst>
              <a:gd name="adj" fmla="val 20000"/>
            </a:avLst>
          </a:prstGeom>
          <a:solidFill>
            <a:srgbClr val="2E5B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7907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752600"/>
            <a:ext cx="381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E5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核心功能改进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2476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24384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超参数自动调优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333500" y="2794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引入 Keras Tuner 自动搜索最优网络结构与参数，替代手动调参，显著提升效率。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3429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33500" y="33909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模型可解释性分析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333500" y="37465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集成 SHAP/LIME 工具，解析特征对预测结果的贡献，让“黑箱”模型决策过程更透明。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2500" y="4381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33500" y="43434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高级可视化监控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333500" y="4699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利用 TensorBoard 实时追踪权重分布与梯度变化，全面理解模型训练动态。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86500" y="1651000"/>
            <a:ext cx="51435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2E5BF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286500" y="1651000"/>
            <a:ext cx="5143500" cy="635000"/>
          </a:xfrm>
          <a:prstGeom prst="roundRect">
            <a:avLst>
              <a:gd name="adj" fmla="val 20000"/>
            </a:avLst>
          </a:prstGeom>
          <a:solidFill>
            <a:srgbClr val="2E5B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17907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21500" y="1752600"/>
            <a:ext cx="381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E5BFF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应用场景拓展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77000" y="2476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858000" y="24384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真实场景数据拟合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858000" y="2794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应用于房价预测、股票趋势分析等真实回归问题，验证模型在复杂环境下的有效性。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77000" y="34290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858000" y="33909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多变量函数拟合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858000" y="37465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扩展模型架构以处理二元及多元输入变量，解决更广泛的多维函数回归挑战。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77000" y="43815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6858000" y="43434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Web 服务化部署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858000" y="4699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Flask/FastAPI 将模型封装为 API 服务，实现从实验原型到实际业务价值的转化。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E5B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0828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20574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E5BFF"/>
                </a:solidFill>
                <a:latin typeface="Noto Sans SC"/>
                <a:ea typeface="Noto Sans SC"/>
                <a:cs typeface="Noto Sans SC"/>
                <a:sym typeface="Noto Sans SC"/>
              </a:rPr>
              <a:t>实验总结与收获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766">
            <a:off x="1066809" y="25336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27940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7686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任务达成：多语言实现拟合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397000" y="30734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C++ 手写与 Python-Keras 两种方式完成四次多项式拟合，达成预期实验目标。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36830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36576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原理深化：掌握模型调优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397000" y="39624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深入理解神经网络底层原理，掌握网络结构设计、正则化及激活函数选择等关键技巧。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45720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97000" y="45466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认知提升：理论结合实践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397000" y="48514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认识到扎实的理论基础与高效的工程工具相结合，是解决 AI 问题的核心竞争力。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1778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54800" y="20828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112000" y="20574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6B35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未来学习与规划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9766">
            <a:off x="6654809" y="25336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54800" y="27940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85000" y="27686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理论进阶：探索复杂模型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985000" y="30734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深入研究 CNN、RNN 等高级网络结构，探索其在图像识别、自然语言处理等领域的应用。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54800" y="3937000"/>
            <a:ext cx="254000" cy="254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985000" y="39116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实践落地：参与真实项目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985000" y="42164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积极寻找并参与实际 AI 项目，将所学知识转化为解决真实世界问题的能力，提升创新与工程落地能力。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65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E5BFF"/>
                </a:solidFill>
                <a:latin typeface="Noto Sans SC"/>
                <a:ea typeface="Noto Sans SC"/>
                <a:cs typeface="Noto Sans SC"/>
                <a:sym typeface="Noto Sans SC"/>
              </a:rPr>
              <a:t>致 谢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715000" y="2540000"/>
            <a:ext cx="762000" cy="50800"/>
          </a:xfrm>
          <a:prstGeom prst="roundRect">
            <a:avLst>
              <a:gd name="adj" fmla="val 0"/>
            </a:avLst>
          </a:prstGeom>
          <a:solidFill>
            <a:srgbClr val="2E5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921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感谢各位老师和同学的聆听！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89600" y="3683000"/>
            <a:ext cx="812800" cy="812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16000" y="457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欢迎提问与交流！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1104</Words>
  <Application>Microsoft Office PowerPoint</Application>
  <PresentationFormat>宽屏</PresentationFormat>
  <Paragraphs>206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saomi Ma</cp:lastModifiedBy>
  <cp:revision>1</cp:revision>
  <dcterms:modified xsi:type="dcterms:W3CDTF">2026-02-06T08:24:13Z</dcterms:modified>
</cp:coreProperties>
</file>